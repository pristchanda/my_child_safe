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61" r:id="rId6"/>
    <p:sldId id="262" r:id="rId7"/>
    <p:sldId id="258" r:id="rId8"/>
    <p:sldId id="271" r:id="rId9"/>
    <p:sldId id="263" r:id="rId10"/>
    <p:sldId id="270" r:id="rId11"/>
    <p:sldId id="264" r:id="rId12"/>
    <p:sldId id="265" r:id="rId13"/>
    <p:sldId id="266" r:id="rId14"/>
    <p:sldId id="268" r:id="rId15"/>
    <p:sldId id="267" r:id="rId16"/>
    <p:sldId id="269" r:id="rId17"/>
  </p:sldIdLst>
  <p:sldSz cx="12192000" cy="6858000"/>
  <p:notesSz cx="6858000" cy="9144000"/>
  <p:defaultTextStyle>
    <a:defPPr>
      <a:defRPr lang="en-Z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0" autoAdjust="0"/>
    <p:restoredTop sz="94660"/>
  </p:normalViewPr>
  <p:slideViewPr>
    <p:cSldViewPr snapToGrid="0">
      <p:cViewPr varScale="1">
        <p:scale>
          <a:sx n="68" d="100"/>
          <a:sy n="68" d="100"/>
        </p:scale>
        <p:origin x="2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0AF1B-FA6C-BEEC-4FFB-93A7D30C4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210321-8717-DF77-4205-23A4B2726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EC785-6D73-7B30-D57A-8D0D86C48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223B-F089-42E5-A22F-653280E1DBE9}" type="datetimeFigureOut">
              <a:rPr lang="en-ZM" smtClean="0"/>
              <a:t>21/11/2025</a:t>
            </a:fld>
            <a:endParaRPr lang="en-ZM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54B-3825-08BC-E6FE-B684448C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B66EE-7A93-5ADC-29EA-540679BAB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7BCE-CD23-41BD-AA15-5D9667B67687}" type="slidenum">
              <a:rPr lang="en-ZM" smtClean="0"/>
              <a:t>‹#›</a:t>
            </a:fld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177074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7CFF6-3D84-493C-251C-054E4C35D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E9C4A-7460-9612-1801-DB76A0C8F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EEBC2-6A3E-60B8-03B5-C2F15C4EE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223B-F089-42E5-A22F-653280E1DBE9}" type="datetimeFigureOut">
              <a:rPr lang="en-ZM" smtClean="0"/>
              <a:t>21/11/2025</a:t>
            </a:fld>
            <a:endParaRPr lang="en-ZM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3A62B-2164-09AB-95EE-21854BA0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BE44C-0725-08AA-E1A9-0A15F46F5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7BCE-CD23-41BD-AA15-5D9667B67687}" type="slidenum">
              <a:rPr lang="en-ZM" smtClean="0"/>
              <a:t>‹#›</a:t>
            </a:fld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58321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38A4C-C6BC-F2CD-CA36-E685407C6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A3F99-1FAC-4302-F0FA-E1A5E2B3B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21518-C8D4-0D2C-02C1-57B370B73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223B-F089-42E5-A22F-653280E1DBE9}" type="datetimeFigureOut">
              <a:rPr lang="en-ZM" smtClean="0"/>
              <a:t>21/11/2025</a:t>
            </a:fld>
            <a:endParaRPr lang="en-ZM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560C6-7F3F-950F-1735-2271225F3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943E7-4FC6-5A95-1438-8763AC32B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7BCE-CD23-41BD-AA15-5D9667B67687}" type="slidenum">
              <a:rPr lang="en-ZM" smtClean="0"/>
              <a:t>‹#›</a:t>
            </a:fld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961393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5CD24-FF9C-613A-24E4-2600B86F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E8C2C-5623-4B64-DD9E-E7B23EB0B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CDB4F-7022-813D-8660-98106AFE6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46DC2-E0D6-FD3D-1F73-C057DF59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223B-F089-42E5-A22F-653280E1DBE9}" type="datetimeFigureOut">
              <a:rPr lang="en-ZM" smtClean="0"/>
              <a:t>21/11/2025</a:t>
            </a:fld>
            <a:endParaRPr lang="en-ZM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1A6AD-4AAA-37AD-1B67-3D520652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B3861-BCF2-AB47-ADF6-8906D8D85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7BCE-CD23-41BD-AA15-5D9667B67687}" type="slidenum">
              <a:rPr lang="en-ZM" smtClean="0"/>
              <a:t>‹#›</a:t>
            </a:fld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15859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DDDDF-CA5D-5148-0CA8-95DD41A69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CCF19-7CAA-0D13-3035-44EAADBD3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3D5A2-80B1-6B39-677B-F62611155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CF72BA-4D72-059A-5067-14881D8DBA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8CC8A-44BC-759E-3315-BD3B38E2B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CDEB6-C8B9-9CAA-3F02-99631784A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223B-F089-42E5-A22F-653280E1DBE9}" type="datetimeFigureOut">
              <a:rPr lang="en-ZM" smtClean="0"/>
              <a:t>21/11/2025</a:t>
            </a:fld>
            <a:endParaRPr lang="en-ZM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BAE3D-06F7-084D-5A13-2AAEFC3F5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121F4-2F43-161A-643E-E72A9A13D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7BCE-CD23-41BD-AA15-5D9667B67687}" type="slidenum">
              <a:rPr lang="en-ZM" smtClean="0"/>
              <a:t>‹#›</a:t>
            </a:fld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87503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54AC-A786-B375-9F85-7B30EEC8B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A59DA7-C6B3-5AF9-8298-B511036E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223B-F089-42E5-A22F-653280E1DBE9}" type="datetimeFigureOut">
              <a:rPr lang="en-ZM" smtClean="0"/>
              <a:t>21/11/2025</a:t>
            </a:fld>
            <a:endParaRPr lang="en-ZM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6C4098-3205-7CFC-9F36-393668A7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A0E58-2AF3-E709-8F47-489D36FD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7BCE-CD23-41BD-AA15-5D9667B67687}" type="slidenum">
              <a:rPr lang="en-ZM" smtClean="0"/>
              <a:t>‹#›</a:t>
            </a:fld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49901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8D079-24CE-24A4-6F2C-85695A61D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223B-F089-42E5-A22F-653280E1DBE9}" type="datetimeFigureOut">
              <a:rPr lang="en-ZM" smtClean="0"/>
              <a:t>21/11/2025</a:t>
            </a:fld>
            <a:endParaRPr lang="en-ZM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3BBEC7-DE7C-8796-2EDB-D8376301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39864-1345-D510-0373-F9C336939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7BCE-CD23-41BD-AA15-5D9667B67687}" type="slidenum">
              <a:rPr lang="en-ZM" smtClean="0"/>
              <a:t>‹#›</a:t>
            </a:fld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136357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13E8-B190-4D14-E558-F9CC45CAF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93212-237E-D79D-B737-05FA941FB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A74F9-18CE-24D8-45E1-0B4C5ADD5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CFEEC-EC66-E5D9-D9D4-32AA24A85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223B-F089-42E5-A22F-653280E1DBE9}" type="datetimeFigureOut">
              <a:rPr lang="en-ZM" smtClean="0"/>
              <a:t>21/11/2025</a:t>
            </a:fld>
            <a:endParaRPr lang="en-ZM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7424-867E-1651-5E18-BBF5C01F6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5314A-505B-1184-1A74-2EA7B8B0A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7BCE-CD23-41BD-AA15-5D9667B67687}" type="slidenum">
              <a:rPr lang="en-ZM" smtClean="0"/>
              <a:t>‹#›</a:t>
            </a:fld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882729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2AFA-0E2B-FA6C-79B2-0818FC2A7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E6FB7-6C51-3125-3CF5-942B17DBB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M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0176B-0954-F5EF-362B-960120BFA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29C38-8B8D-57EF-9309-ECBA6BA7A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223B-F089-42E5-A22F-653280E1DBE9}" type="datetimeFigureOut">
              <a:rPr lang="en-ZM" smtClean="0"/>
              <a:t>21/11/2025</a:t>
            </a:fld>
            <a:endParaRPr lang="en-ZM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43C70-BB27-50F5-6F74-50CA285DE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22DE0-DC0C-2F78-8307-D6ACC2F7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7BCE-CD23-41BD-AA15-5D9667B67687}" type="slidenum">
              <a:rPr lang="en-ZM" smtClean="0"/>
              <a:t>‹#›</a:t>
            </a:fld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73879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03FBF-E66E-F059-4A42-268DC399E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0A9E2-2ADC-6586-4873-9C4DFA27D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C5F4D-EC2E-D7E9-3569-7799E0F08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223B-F089-42E5-A22F-653280E1DBE9}" type="datetimeFigureOut">
              <a:rPr lang="en-ZM" smtClean="0"/>
              <a:t>21/11/2025</a:t>
            </a:fld>
            <a:endParaRPr lang="en-ZM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629EB-DEC4-2FD4-58B4-8FB0C015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5F0AA-7468-D469-E55E-33C2AE2A6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7BCE-CD23-41BD-AA15-5D9667B67687}" type="slidenum">
              <a:rPr lang="en-ZM" smtClean="0"/>
              <a:t>‹#›</a:t>
            </a:fld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861405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A97D0C-9AC1-E1FF-3218-18528AD88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C3BC4-62ED-ECA5-0C06-FC4343832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3FA3C-71E8-7A51-5554-63296624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223B-F089-42E5-A22F-653280E1DBE9}" type="datetimeFigureOut">
              <a:rPr lang="en-ZM" smtClean="0"/>
              <a:t>21/11/2025</a:t>
            </a:fld>
            <a:endParaRPr lang="en-ZM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80CC-5734-55EA-B289-614ED19B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E6804-315F-90D0-AC11-5D71F0537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7BCE-CD23-41BD-AA15-5D9667B67687}" type="slidenum">
              <a:rPr lang="en-ZM" smtClean="0"/>
              <a:t>‹#›</a:t>
            </a:fld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72418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EA11D7-8766-B3D4-DAB8-6BC22F6E7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22FB3-6CB8-59B5-3715-F0E575C89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68CDC-2DBB-1A9B-B75B-9B51872BE1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4223B-F089-42E5-A22F-653280E1DBE9}" type="datetimeFigureOut">
              <a:rPr lang="en-ZM" smtClean="0"/>
              <a:t>21/11/2025</a:t>
            </a:fld>
            <a:endParaRPr lang="en-ZM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21FFE-2BC7-86FD-0D5B-2C2C761AD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52402-278D-F24E-A1BE-896F41B73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47BCE-CD23-41BD-AA15-5D9667B67687}" type="slidenum">
              <a:rPr lang="en-ZM" smtClean="0"/>
              <a:t>‹#›</a:t>
            </a:fld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96248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Z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B6FE-8651-E393-F7AA-92D8BBF9D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74557"/>
            <a:ext cx="9144000" cy="369369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PROJECT TITLE</a:t>
            </a:r>
            <a:r>
              <a:rPr lang="en-ZM" sz="6600" b="1" dirty="0">
                <a:solidFill>
                  <a:schemeClr val="bg1"/>
                </a:solidFill>
              </a:rPr>
              <a:t>: </a:t>
            </a:r>
            <a:br>
              <a:rPr lang="en-US" sz="6600" b="1" dirty="0">
                <a:solidFill>
                  <a:schemeClr val="bg1"/>
                </a:solidFill>
              </a:rPr>
            </a:br>
            <a:br>
              <a:rPr lang="en-US" sz="6600" b="1" dirty="0">
                <a:solidFill>
                  <a:schemeClr val="bg1"/>
                </a:solidFill>
              </a:rPr>
            </a:br>
            <a:r>
              <a:rPr lang="en-ZM" sz="6600" b="1" dirty="0">
                <a:solidFill>
                  <a:schemeClr val="bg1"/>
                </a:solidFill>
              </a:rPr>
              <a:t>CHILD</a:t>
            </a:r>
            <a:r>
              <a:rPr lang="en-US" sz="6600" b="1" dirty="0">
                <a:solidFill>
                  <a:schemeClr val="bg1"/>
                </a:solidFill>
              </a:rPr>
              <a:t>-</a:t>
            </a:r>
            <a:r>
              <a:rPr lang="en-ZM" sz="6600" b="1" dirty="0">
                <a:solidFill>
                  <a:schemeClr val="bg1"/>
                </a:solidFill>
              </a:rPr>
              <a:t>SAFE ZAMBIA</a:t>
            </a:r>
          </a:p>
        </p:txBody>
      </p:sp>
    </p:spTree>
    <p:extLst>
      <p:ext uri="{BB962C8B-B14F-4D97-AF65-F5344CB8AC3E}">
        <p14:creationId xmlns:p14="http://schemas.microsoft.com/office/powerpoint/2010/main" val="1892847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977E1C-5EDE-C89A-A220-DBC50A1CB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8D613-FDAE-EDA4-798E-EA2FCA2A7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05326"/>
            <a:ext cx="11321716" cy="1082842"/>
          </a:xfrm>
        </p:spPr>
        <p:txBody>
          <a:bodyPr>
            <a:normAutofit fontScale="90000"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PROJECT TITLE</a:t>
            </a:r>
            <a:r>
              <a:rPr lang="en-ZM" sz="6600" b="1" dirty="0">
                <a:solidFill>
                  <a:schemeClr val="bg1"/>
                </a:solidFill>
              </a:rPr>
              <a:t>: CHILD</a:t>
            </a:r>
            <a:r>
              <a:rPr lang="en-US" sz="6600" b="1" dirty="0">
                <a:solidFill>
                  <a:schemeClr val="bg1"/>
                </a:solidFill>
              </a:rPr>
              <a:t>-</a:t>
            </a:r>
            <a:r>
              <a:rPr lang="en-ZM" sz="6600" b="1" dirty="0">
                <a:solidFill>
                  <a:schemeClr val="bg1"/>
                </a:solidFill>
              </a:rPr>
              <a:t>SAFE ZAMBIA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E8BB4A-E592-583A-3064-4A766EA08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3631" y="1873516"/>
            <a:ext cx="9424737" cy="4046517"/>
          </a:xfrm>
        </p:spPr>
        <p:txBody>
          <a:bodyPr>
            <a:normAutofit fontScale="92500" lnSpcReduction="20000"/>
          </a:bodyPr>
          <a:lstStyle/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ZM" sz="3500" b="1" dirty="0">
                <a:solidFill>
                  <a:schemeClr val="bg1"/>
                </a:solidFill>
              </a:rPr>
              <a:t>Breaking the Silence on Child Abuse · Shocking Statistics: · 1 in 3 girls and 1 in 5 boys in Zambia experience </a:t>
            </a:r>
            <a:r>
              <a:rPr lang="en-US" sz="3500" b="1" dirty="0">
                <a:solidFill>
                  <a:schemeClr val="bg1"/>
                </a:solidFill>
              </a:rPr>
              <a:t>different forms of</a:t>
            </a:r>
            <a:r>
              <a:rPr lang="en-ZM" sz="3500" b="1" dirty="0">
                <a:solidFill>
                  <a:schemeClr val="bg1"/>
                </a:solidFill>
              </a:rPr>
              <a:t> violence before the age of 18. · Over 40% of children report experiencing physical violence. · Less than 10% of these cases are ever reported to authorities.</a:t>
            </a:r>
            <a:br>
              <a:rPr lang="en-US" sz="2800" b="1" dirty="0">
                <a:solidFill>
                  <a:schemeClr val="bg1"/>
                </a:solidFill>
              </a:rPr>
            </a:br>
            <a:br>
              <a:rPr lang="en-US" sz="2800" b="1" dirty="0">
                <a:solidFill>
                  <a:schemeClr val="bg1"/>
                </a:solidFill>
              </a:rPr>
            </a:br>
            <a:br>
              <a:rPr lang="en-US" sz="2800" b="1" dirty="0">
                <a:solidFill>
                  <a:schemeClr val="bg1"/>
                </a:solidFill>
              </a:rPr>
            </a:b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600" b="1" u="sng" dirty="0">
                <a:solidFill>
                  <a:schemeClr val="bg1"/>
                </a:solidFill>
              </a:rPr>
              <a:t>NOTE:</a:t>
            </a:r>
            <a:r>
              <a:rPr lang="en-US" sz="4800" b="1" dirty="0">
                <a:solidFill>
                  <a:schemeClr val="bg1"/>
                </a:solidFill>
              </a:rPr>
              <a:t> </a:t>
            </a:r>
            <a:r>
              <a:rPr lang="en-US" sz="1900" b="1" dirty="0">
                <a:solidFill>
                  <a:schemeClr val="bg1"/>
                </a:solidFill>
              </a:rPr>
              <a:t>INORDER TO RUN THE FRONTEND FOR THIS PROJECT, KINDLY RUN THE “MY_CHILDSAFE” FILE IN THE PROJECT FRONTEND FOLDER</a:t>
            </a:r>
            <a:endParaRPr lang="en-US" sz="2600" b="1" dirty="0">
              <a:solidFill>
                <a:schemeClr val="bg1"/>
              </a:solidFill>
            </a:endParaRPr>
          </a:p>
          <a:p>
            <a:pPr algn="l"/>
            <a:endParaRPr lang="en-ZM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117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3DAD5-32BC-9159-4947-A4F87E5A5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862323-7155-B00A-1254-204921CE1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758" y="469230"/>
            <a:ext cx="11261557" cy="5751096"/>
          </a:xfrm>
        </p:spPr>
        <p:txBody>
          <a:bodyPr>
            <a:normAutofit/>
          </a:bodyPr>
          <a:lstStyle/>
          <a:p>
            <a:r>
              <a:rPr lang="en-ZM" sz="2800" b="1" u="sng" dirty="0">
                <a:solidFill>
                  <a:schemeClr val="bg1"/>
                </a:solidFill>
              </a:rPr>
              <a:t>THE PROBLEM WE'RE SOLVING: </a:t>
            </a:r>
            <a:endParaRPr lang="en-US" sz="2800" b="1" u="sng" dirty="0">
              <a:solidFill>
                <a:schemeClr val="bg1"/>
              </a:solidFill>
            </a:endParaRPr>
          </a:p>
          <a:p>
            <a:pPr algn="l"/>
            <a:r>
              <a:rPr lang="en-ZM" sz="2800" b="1" dirty="0">
                <a:solidFill>
                  <a:schemeClr val="bg1"/>
                </a:solidFill>
              </a:rPr>
              <a:t> Fear of stigma, retaliation, and community backlash prevents reporting. </a:t>
            </a:r>
            <a:endParaRPr lang="en-US" sz="2800" b="1" dirty="0">
              <a:solidFill>
                <a:schemeClr val="bg1"/>
              </a:solidFill>
            </a:endParaRPr>
          </a:p>
          <a:p>
            <a:pPr algn="l"/>
            <a:r>
              <a:rPr lang="en-ZM" sz="2800" b="1" dirty="0">
                <a:solidFill>
                  <a:schemeClr val="bg1"/>
                </a:solidFill>
              </a:rPr>
              <a:t>· Lack of safe, anonymous, and accessible channels for children and witnesses. </a:t>
            </a:r>
            <a:endParaRPr lang="en-US" sz="2800" b="1" dirty="0">
              <a:solidFill>
                <a:schemeClr val="bg1"/>
              </a:solidFill>
            </a:endParaRPr>
          </a:p>
          <a:p>
            <a:pPr algn="l"/>
            <a:r>
              <a:rPr lang="en-ZM" sz="2800" b="1" dirty="0">
                <a:solidFill>
                  <a:schemeClr val="bg1"/>
                </a:solidFill>
              </a:rPr>
              <a:t>· Critical information gets lost, leaving children in dangerous situations. </a:t>
            </a:r>
            <a:endParaRPr lang="en-US" sz="2800" b="1" dirty="0">
              <a:solidFill>
                <a:schemeClr val="bg1"/>
              </a:solidFill>
            </a:endParaRPr>
          </a:p>
          <a:p>
            <a:endParaRPr lang="en-US" sz="2800" b="1" u="sng" dirty="0">
              <a:solidFill>
                <a:schemeClr val="bg1"/>
              </a:solidFill>
            </a:endParaRPr>
          </a:p>
          <a:p>
            <a:endParaRPr lang="en-US" sz="2800" b="1" u="sng" dirty="0">
              <a:solidFill>
                <a:schemeClr val="bg1"/>
              </a:solidFill>
            </a:endParaRPr>
          </a:p>
          <a:p>
            <a:r>
              <a:rPr lang="en-ZM" sz="2800" b="1" u="sng" dirty="0">
                <a:solidFill>
                  <a:schemeClr val="bg1"/>
                </a:solidFill>
              </a:rPr>
              <a:t>OUR SOLUTION OVERVIEW: </a:t>
            </a:r>
            <a:endParaRPr lang="en-US" sz="2800" b="1" u="sng" dirty="0">
              <a:solidFill>
                <a:schemeClr val="bg1"/>
              </a:solidFill>
            </a:endParaRPr>
          </a:p>
          <a:p>
            <a:pPr algn="l"/>
            <a:r>
              <a:rPr lang="en-ZM" sz="2800" b="1" dirty="0">
                <a:solidFill>
                  <a:schemeClr val="bg1"/>
                </a:solidFill>
              </a:rPr>
              <a:t>· A secure, anonymous web platform that allows anyone to safely report suspected child abuse. · Connects reports directly to vetted social workers and law enforcement. · Empowers communities to protect their children without fear. </a:t>
            </a:r>
          </a:p>
        </p:txBody>
      </p:sp>
    </p:spTree>
    <p:extLst>
      <p:ext uri="{BB962C8B-B14F-4D97-AF65-F5344CB8AC3E}">
        <p14:creationId xmlns:p14="http://schemas.microsoft.com/office/powerpoint/2010/main" val="70538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931B9-00ED-B0C4-1F5F-9EA02E388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728356-5103-6625-565B-B63A509DC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097" y="666355"/>
            <a:ext cx="10152993" cy="5650361"/>
          </a:xfrm>
        </p:spPr>
        <p:txBody>
          <a:bodyPr>
            <a:normAutofit/>
          </a:bodyPr>
          <a:lstStyle/>
          <a:p>
            <a:r>
              <a:rPr lang="en-ZM" sz="4400" b="1" u="sng" dirty="0">
                <a:solidFill>
                  <a:schemeClr val="bg1"/>
                </a:solidFill>
              </a:rPr>
              <a:t>THE CHALLENGE &amp; OUR SOLUTION </a:t>
            </a:r>
            <a:endParaRPr lang="en-US" sz="4400" b="1" u="sng" dirty="0">
              <a:solidFill>
                <a:schemeClr val="bg1"/>
              </a:solidFill>
            </a:endParaRPr>
          </a:p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ZM" sz="4000" b="1" dirty="0">
                <a:solidFill>
                  <a:schemeClr val="bg1"/>
                </a:solidFill>
              </a:rPr>
              <a:t>Current Reality in Zambia: · Cultural taboos surrounding discussions of abuse. · Under-resourced child protection services. · Fragmented and intimidating official reporting processes. </a:t>
            </a:r>
            <a:endParaRPr lang="en-US" sz="4000" b="1" dirty="0">
              <a:solidFill>
                <a:schemeClr val="bg1"/>
              </a:solidFill>
            </a:endParaRPr>
          </a:p>
          <a:p>
            <a:pPr algn="l"/>
            <a:r>
              <a:rPr lang="en-US" sz="3200" b="1" u="sng" dirty="0">
                <a:solidFill>
                  <a:schemeClr val="bg1"/>
                </a:solidFill>
              </a:rPr>
              <a:t>NOTE:</a:t>
            </a:r>
            <a:r>
              <a:rPr lang="en-US" sz="5400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INORDER TO RUN THE FRONTEND FOR THIS PROJECT, KINDLY RUN THE “MYCHILDSAFE” FILE IN THE PROJECT FRONTEND FOLDER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193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54929-0D2B-ADA5-96D8-779DAE0FF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A81848-8C88-1C6C-1BD3-4561A8D3D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097" y="666355"/>
            <a:ext cx="10152993" cy="5650361"/>
          </a:xfrm>
        </p:spPr>
        <p:txBody>
          <a:bodyPr>
            <a:normAutofit fontScale="92500" lnSpcReduction="20000"/>
          </a:bodyPr>
          <a:lstStyle/>
          <a:p>
            <a:r>
              <a:rPr lang="en-ZM" sz="4000" b="1" u="sng" dirty="0">
                <a:solidFill>
                  <a:schemeClr val="bg1"/>
                </a:solidFill>
              </a:rPr>
              <a:t>KEY BARRIERS TO REPORTING: </a:t>
            </a:r>
            <a:endParaRPr lang="en-US" sz="4000" b="1" u="sng" dirty="0">
              <a:solidFill>
                <a:schemeClr val="bg1"/>
              </a:solidFill>
            </a:endParaRPr>
          </a:p>
          <a:p>
            <a:pPr algn="l"/>
            <a:endParaRPr lang="en-US" sz="4000" b="1" dirty="0">
              <a:solidFill>
                <a:schemeClr val="bg1"/>
              </a:solidFill>
            </a:endParaRPr>
          </a:p>
          <a:p>
            <a:pPr algn="l"/>
            <a:r>
              <a:rPr lang="en-ZM" sz="4000" b="1" u="sng" dirty="0">
                <a:solidFill>
                  <a:schemeClr val="bg1"/>
                </a:solidFill>
              </a:rPr>
              <a:t>· FEAR:</a:t>
            </a:r>
            <a:r>
              <a:rPr lang="en-ZM" sz="4000" b="1" dirty="0">
                <a:solidFill>
                  <a:schemeClr val="bg1"/>
                </a:solidFill>
              </a:rPr>
              <a:t> Of the perpetrator, family dishonour, or not being believed. </a:t>
            </a:r>
            <a:endParaRPr lang="en-US" sz="4000" b="1" dirty="0">
              <a:solidFill>
                <a:schemeClr val="bg1"/>
              </a:solidFill>
            </a:endParaRPr>
          </a:p>
          <a:p>
            <a:pPr algn="l"/>
            <a:r>
              <a:rPr lang="en-ZM" sz="4000" b="1" u="sng" dirty="0">
                <a:solidFill>
                  <a:schemeClr val="bg1"/>
                </a:solidFill>
              </a:rPr>
              <a:t>· LACK OF ANONYMITY: </a:t>
            </a:r>
            <a:r>
              <a:rPr lang="en-ZM" sz="4000" b="1" dirty="0">
                <a:solidFill>
                  <a:schemeClr val="bg1"/>
                </a:solidFill>
              </a:rPr>
              <a:t>Traditional reporting requires identity disclosure. </a:t>
            </a:r>
            <a:endParaRPr lang="en-US" sz="4000" b="1" dirty="0">
              <a:solidFill>
                <a:schemeClr val="bg1"/>
              </a:solidFill>
            </a:endParaRPr>
          </a:p>
          <a:p>
            <a:pPr algn="l"/>
            <a:r>
              <a:rPr lang="en-ZM" sz="3900" b="1" u="sng" dirty="0">
                <a:solidFill>
                  <a:schemeClr val="bg1"/>
                </a:solidFill>
              </a:rPr>
              <a:t>· COMPLEXITY: </a:t>
            </a:r>
            <a:r>
              <a:rPr lang="en-ZM" sz="4000" b="1" dirty="0">
                <a:solidFill>
                  <a:schemeClr val="bg1"/>
                </a:solidFill>
              </a:rPr>
              <a:t>Not knowing where or how to report effectively. </a:t>
            </a:r>
            <a:endParaRPr lang="en-US" sz="4000" b="1" dirty="0">
              <a:solidFill>
                <a:schemeClr val="bg1"/>
              </a:solidFill>
            </a:endParaRPr>
          </a:p>
          <a:p>
            <a:pPr algn="l"/>
            <a:r>
              <a:rPr lang="en-ZM" sz="3500" b="1" u="sng" dirty="0">
                <a:solidFill>
                  <a:schemeClr val="bg1"/>
                </a:solidFill>
              </a:rPr>
              <a:t>· OUR SOLUTION'S CORE FEATURES: </a:t>
            </a:r>
            <a:r>
              <a:rPr lang="en-ZM" sz="4000" b="1" dirty="0">
                <a:solidFill>
                  <a:schemeClr val="bg1"/>
                </a:solidFill>
              </a:rPr>
              <a:t>· Total Anonymity: No personal data is required or stored. </a:t>
            </a:r>
            <a:endParaRPr lang="en-US" sz="4000" b="1" dirty="0">
              <a:solidFill>
                <a:schemeClr val="bg1"/>
              </a:solidFill>
            </a:endParaRPr>
          </a:p>
          <a:p>
            <a:pPr algn="l"/>
            <a:r>
              <a:rPr lang="en-ZM" sz="3500" b="1" u="sng" dirty="0">
                <a:solidFill>
                  <a:schemeClr val="bg1"/>
                </a:solidFill>
              </a:rPr>
              <a:t>· USER-FRIENDLY DESIGN</a:t>
            </a:r>
            <a:r>
              <a:rPr lang="en-ZM" sz="3000" b="1" u="sng" dirty="0">
                <a:solidFill>
                  <a:schemeClr val="bg1"/>
                </a:solidFill>
              </a:rPr>
              <a:t>: </a:t>
            </a:r>
            <a:r>
              <a:rPr lang="en-ZM" sz="4000" b="1" dirty="0">
                <a:solidFill>
                  <a:schemeClr val="bg1"/>
                </a:solidFill>
              </a:rPr>
              <a:t>Accessible on any smartphone, in multiple local languages</a:t>
            </a:r>
            <a:endParaRPr lang="en-ZM" sz="9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13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165451-68F0-3F6A-3D03-197AC7D8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ACDDB-5B2B-A3BE-1CC9-7EFDD3FF5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097" y="666355"/>
            <a:ext cx="10152993" cy="5650361"/>
          </a:xfrm>
        </p:spPr>
        <p:txBody>
          <a:bodyPr>
            <a:normAutofit lnSpcReduction="10000"/>
          </a:bodyPr>
          <a:lstStyle/>
          <a:p>
            <a:pPr algn="l"/>
            <a:r>
              <a:rPr lang="en-ZM" sz="4000" b="1" u="sng" dirty="0">
                <a:solidFill>
                  <a:schemeClr val="bg1"/>
                </a:solidFill>
              </a:rPr>
              <a:t>SMART TRIAGE</a:t>
            </a:r>
            <a:r>
              <a:rPr lang="en-ZM" sz="4400" b="1" u="sng" dirty="0">
                <a:solidFill>
                  <a:schemeClr val="bg1"/>
                </a:solidFill>
              </a:rPr>
              <a:t>: </a:t>
            </a:r>
            <a:r>
              <a:rPr lang="en-ZM" sz="4400" b="1" dirty="0">
                <a:solidFill>
                  <a:schemeClr val="bg1"/>
                </a:solidFill>
              </a:rPr>
              <a:t>Ensures urgent cases are prioritized and routed correctly. </a:t>
            </a:r>
            <a:endParaRPr lang="en-US" sz="4400" b="1" dirty="0">
              <a:solidFill>
                <a:schemeClr val="bg1"/>
              </a:solidFill>
            </a:endParaRPr>
          </a:p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ZM" sz="4400" b="1" dirty="0">
                <a:solidFill>
                  <a:schemeClr val="bg1"/>
                </a:solidFill>
              </a:rPr>
              <a:t>·</a:t>
            </a:r>
            <a:r>
              <a:rPr lang="en-ZM" sz="4400" b="1" u="sng" dirty="0">
                <a:solidFill>
                  <a:schemeClr val="bg1"/>
                </a:solidFill>
              </a:rPr>
              <a:t>IMPACT GOALS: </a:t>
            </a:r>
            <a:r>
              <a:rPr lang="en-ZM" sz="4400" b="1" dirty="0">
                <a:solidFill>
                  <a:schemeClr val="bg1"/>
                </a:solidFill>
              </a:rPr>
              <a:t>· Increase the rate of child abuse reporting by 5x within one year. · Reduce the average response time for critical cases by 50%. · Create a safer environment for children to be heard and protected. </a:t>
            </a:r>
            <a:endParaRPr lang="en-ZM" sz="239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343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5C38B-A624-5E87-CE1D-886FB5A75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5FB71D-1D34-18E4-EC75-D8CF4D06D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097" y="666355"/>
            <a:ext cx="10152993" cy="5481781"/>
          </a:xfrm>
        </p:spPr>
        <p:txBody>
          <a:bodyPr>
            <a:normAutofit fontScale="85000" lnSpcReduction="20000"/>
          </a:bodyPr>
          <a:lstStyle/>
          <a:p>
            <a:r>
              <a:rPr lang="en-ZM" sz="4700" b="1" u="sng" dirty="0">
                <a:solidFill>
                  <a:schemeClr val="bg1"/>
                </a:solidFill>
              </a:rPr>
              <a:t>TECHNOLOGY ARCHITECTURE</a:t>
            </a:r>
            <a:r>
              <a:rPr lang="en-ZM" sz="3300" b="1" u="sng" dirty="0">
                <a:solidFill>
                  <a:schemeClr val="bg1"/>
                </a:solidFill>
              </a:rPr>
              <a:t>·</a:t>
            </a:r>
            <a:endParaRPr lang="en-US" sz="3300" b="1" u="sng" dirty="0">
              <a:solidFill>
                <a:schemeClr val="bg1"/>
              </a:solidFill>
            </a:endParaRPr>
          </a:p>
          <a:p>
            <a:endParaRPr lang="en-US" sz="3300" b="1" u="sng" dirty="0">
              <a:solidFill>
                <a:schemeClr val="bg1"/>
              </a:solidFill>
            </a:endParaRPr>
          </a:p>
          <a:p>
            <a:pPr algn="l"/>
            <a:r>
              <a:rPr lang="en-US" sz="4600" b="1" u="sng" dirty="0">
                <a:solidFill>
                  <a:schemeClr val="bg1"/>
                </a:solidFill>
              </a:rPr>
              <a:t>Production Ready Features</a:t>
            </a:r>
          </a:p>
          <a:p>
            <a:pPr algn="l"/>
            <a:r>
              <a:rPr lang="en-US" sz="4600" dirty="0">
                <a:solidFill>
                  <a:schemeClr val="bg1"/>
                </a:solidFill>
              </a:rPr>
              <a:t>- Environment-based configuration</a:t>
            </a:r>
          </a:p>
          <a:p>
            <a:pPr algn="l"/>
            <a:r>
              <a:rPr lang="en-US" sz="4600" dirty="0">
                <a:solidFill>
                  <a:schemeClr val="bg1"/>
                </a:solidFill>
              </a:rPr>
              <a:t>- Logging system</a:t>
            </a:r>
          </a:p>
          <a:p>
            <a:pPr algn="l"/>
            <a:r>
              <a:rPr lang="en-US" sz="4600" dirty="0">
                <a:solidFill>
                  <a:schemeClr val="bg1"/>
                </a:solidFill>
              </a:rPr>
              <a:t>- Static file management</a:t>
            </a:r>
          </a:p>
          <a:p>
            <a:pPr algn="l"/>
            <a:r>
              <a:rPr lang="en-US" sz="4600" dirty="0">
                <a:solidFill>
                  <a:schemeClr val="bg1"/>
                </a:solidFill>
              </a:rPr>
              <a:t>- Database migrations</a:t>
            </a:r>
          </a:p>
          <a:p>
            <a:pPr algn="l"/>
            <a:r>
              <a:rPr lang="en-US" sz="4600" dirty="0">
                <a:solidFill>
                  <a:schemeClr val="bg1"/>
                </a:solidFill>
              </a:rPr>
              <a:t>- Management commands</a:t>
            </a:r>
          </a:p>
          <a:p>
            <a:pPr algn="l"/>
            <a:r>
              <a:rPr lang="en-US" sz="4600" dirty="0">
                <a:solidFill>
                  <a:schemeClr val="bg1"/>
                </a:solidFill>
              </a:rPr>
              <a:t>- Comprehensive documentation</a:t>
            </a:r>
            <a:br>
              <a:rPr lang="en-US" sz="4000" b="1" dirty="0">
                <a:solidFill>
                  <a:schemeClr val="bg1"/>
                </a:solidFill>
              </a:rPr>
            </a:br>
            <a:endParaRPr lang="en-ZM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517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F9C39-9F39-BA1C-9959-3B3043A4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19622AC-6841-8CF5-D819-B3A2DDE58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731" y="666355"/>
            <a:ext cx="10588360" cy="5809859"/>
          </a:xfrm>
        </p:spPr>
        <p:txBody>
          <a:bodyPr>
            <a:normAutofit fontScale="47500" lnSpcReduction="20000"/>
          </a:bodyPr>
          <a:lstStyle/>
          <a:p>
            <a:r>
              <a:rPr lang="en-ZM" sz="4700" b="1" u="sng" dirty="0">
                <a:solidFill>
                  <a:schemeClr val="bg1"/>
                </a:solidFill>
              </a:rPr>
              <a:t>TECHNOLOGY ARCHITECTURE</a:t>
            </a:r>
            <a:r>
              <a:rPr lang="en-ZM" sz="3300" b="1" u="sng" dirty="0">
                <a:solidFill>
                  <a:schemeClr val="bg1"/>
                </a:solidFill>
              </a:rPr>
              <a:t>·</a:t>
            </a:r>
            <a:endParaRPr lang="en-US" sz="3300" b="1" u="sng" dirty="0">
              <a:solidFill>
                <a:schemeClr val="bg1"/>
              </a:solidFill>
            </a:endParaRPr>
          </a:p>
          <a:p>
            <a:endParaRPr lang="en-US" sz="3300" b="1" u="sng" dirty="0">
              <a:solidFill>
                <a:schemeClr val="bg1"/>
              </a:solidFill>
            </a:endParaRPr>
          </a:p>
          <a:p>
            <a:pPr algn="l"/>
            <a:r>
              <a:rPr lang="en-US" sz="4100" b="1" dirty="0">
                <a:solidFill>
                  <a:schemeClr val="bg1"/>
                </a:solidFill>
              </a:rPr>
              <a:t>Prototype Limitations Features Excluded from Prototype(Future endeavor)</a:t>
            </a:r>
          </a:p>
          <a:p>
            <a:pPr algn="l"/>
            <a:endParaRPr lang="en-US" sz="4100" b="1" dirty="0">
              <a:solidFill>
                <a:schemeClr val="bg1"/>
              </a:solidFill>
            </a:endParaRPr>
          </a:p>
          <a:p>
            <a:pPr algn="l"/>
            <a:r>
              <a:rPr lang="en-US" sz="4200" b="1" dirty="0">
                <a:solidFill>
                  <a:schemeClr val="bg1"/>
                </a:solidFill>
              </a:rPr>
              <a:t>· User accounts and login systems</a:t>
            </a:r>
          </a:p>
          <a:p>
            <a:pPr algn="l"/>
            <a:r>
              <a:rPr lang="en-US" sz="4200" b="1" dirty="0">
                <a:solidFill>
                  <a:schemeClr val="bg1"/>
                </a:solidFill>
              </a:rPr>
              <a:t>· SMS or USSD integration</a:t>
            </a:r>
          </a:p>
          <a:p>
            <a:pPr algn="l"/>
            <a:r>
              <a:rPr lang="en-US" sz="4200" b="1" dirty="0">
                <a:solidFill>
                  <a:schemeClr val="bg1"/>
                </a:solidFill>
              </a:rPr>
              <a:t>· Offline functionality </a:t>
            </a:r>
          </a:p>
          <a:p>
            <a:pPr algn="l"/>
            <a:r>
              <a:rPr lang="en-US" sz="4200" b="1" dirty="0">
                <a:solidFill>
                  <a:schemeClr val="bg1"/>
                </a:solidFill>
              </a:rPr>
              <a:t>· Multiple admin roles and permissions</a:t>
            </a:r>
          </a:p>
          <a:p>
            <a:pPr algn="l"/>
            <a:r>
              <a:rPr lang="en-US" sz="4200" b="1" dirty="0">
                <a:solidFill>
                  <a:schemeClr val="bg1"/>
                </a:solidFill>
              </a:rPr>
              <a:t>· Advanced analytics and reporting </a:t>
            </a:r>
          </a:p>
          <a:p>
            <a:pPr algn="l"/>
            <a:r>
              <a:rPr lang="en-US" sz="4200" b="1" dirty="0">
                <a:solidFill>
                  <a:schemeClr val="bg1"/>
                </a:solidFill>
              </a:rPr>
              <a:t>· Two-way communication between reporters and responders</a:t>
            </a:r>
          </a:p>
          <a:p>
            <a:pPr algn="l"/>
            <a:r>
              <a:rPr lang="en-US" sz="4200" b="1" dirty="0">
                <a:solidFill>
                  <a:schemeClr val="bg1"/>
                </a:solidFill>
              </a:rPr>
              <a:t>· Bulk messaging or notifications</a:t>
            </a:r>
          </a:p>
          <a:p>
            <a:pPr algn="l"/>
            <a:r>
              <a:rPr lang="en-US" sz="4200" b="1" dirty="0">
                <a:solidFill>
                  <a:schemeClr val="bg1"/>
                </a:solidFill>
              </a:rPr>
              <a:t>·Integration with external systems</a:t>
            </a:r>
          </a:p>
          <a:p>
            <a:pPr algn="l"/>
            <a:r>
              <a:rPr lang="en-US" sz="4200" b="1" dirty="0">
                <a:solidFill>
                  <a:schemeClr val="bg1"/>
                </a:solidFill>
              </a:rPr>
              <a:t>· Multi-language support</a:t>
            </a:r>
          </a:p>
          <a:p>
            <a:pPr algn="l"/>
            <a:r>
              <a:rPr lang="en-US" sz="4200" b="1" dirty="0">
                <a:solidFill>
                  <a:schemeClr val="bg1"/>
                </a:solidFill>
              </a:rPr>
              <a:t>· Advanced search and filtering</a:t>
            </a:r>
          </a:p>
          <a:p>
            <a:pPr algn="l"/>
            <a:r>
              <a:rPr lang="en-US" sz="4200" b="1" dirty="0">
                <a:solidFill>
                  <a:schemeClr val="bg1"/>
                </a:solidFill>
              </a:rPr>
              <a:t>· Data export capabilities</a:t>
            </a:r>
          </a:p>
          <a:p>
            <a:pPr algn="l"/>
            <a:r>
              <a:rPr lang="en-US" sz="4200" b="1" dirty="0">
                <a:solidFill>
                  <a:schemeClr val="bg1"/>
                </a:solidFill>
              </a:rPr>
              <a:t>· User feedback mechanisms</a:t>
            </a:r>
            <a:br>
              <a:rPr lang="en-US" sz="4000" b="1" dirty="0">
                <a:solidFill>
                  <a:schemeClr val="bg1"/>
                </a:solidFill>
              </a:rPr>
            </a:br>
            <a:endParaRPr lang="en-ZM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68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3A9BD-046E-076D-DBFB-DAA02E92C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CF2357-89ED-FB60-7838-6D677DF4C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097" y="666355"/>
            <a:ext cx="10152993" cy="5650223"/>
          </a:xfrm>
        </p:spPr>
        <p:txBody>
          <a:bodyPr>
            <a:normAutofit fontScale="92500" lnSpcReduction="10000"/>
          </a:bodyPr>
          <a:lstStyle/>
          <a:p>
            <a:r>
              <a:rPr lang="en-ZM" sz="3200" b="1" u="sng" dirty="0">
                <a:solidFill>
                  <a:schemeClr val="bg1"/>
                </a:solidFill>
              </a:rPr>
              <a:t>. </a:t>
            </a:r>
            <a:br>
              <a:rPr lang="en-US" sz="3200" b="1" u="sng" dirty="0">
                <a:solidFill>
                  <a:schemeClr val="bg1"/>
                </a:solidFill>
              </a:rPr>
            </a:br>
            <a:r>
              <a:rPr lang="en-ZM" sz="3200" b="1" dirty="0">
                <a:solidFill>
                  <a:schemeClr val="bg1"/>
                </a:solidFill>
              </a:rPr>
              <a:t>· </a:t>
            </a:r>
            <a:r>
              <a:rPr lang="en-ZM" sz="3200" b="1" u="sng" dirty="0">
                <a:solidFill>
                  <a:schemeClr val="bg1"/>
                </a:solidFill>
              </a:rPr>
              <a:t>Frontend Stack: </a:t>
            </a:r>
            <a:r>
              <a:rPr lang="en-ZM" sz="3200" b="1" dirty="0">
                <a:solidFill>
                  <a:schemeClr val="bg1"/>
                </a:solidFill>
              </a:rPr>
              <a:t>· Next.js: For a fast, secure, and scalable user interface. · Tailwind CSS: For a clean, accessible, and responsive design that works on all devices.</a:t>
            </a:r>
            <a:endParaRPr lang="en-US" sz="3200" b="1" dirty="0">
              <a:solidFill>
                <a:schemeClr val="bg1"/>
              </a:solidFill>
            </a:endParaRPr>
          </a:p>
          <a:p>
            <a:br>
              <a:rPr lang="en-US" sz="3200" b="1" dirty="0">
                <a:solidFill>
                  <a:schemeClr val="bg1"/>
                </a:solidFill>
              </a:rPr>
            </a:br>
            <a:r>
              <a:rPr lang="en-ZM" sz="3200" b="1" u="sng" dirty="0">
                <a:solidFill>
                  <a:schemeClr val="bg1"/>
                </a:solidFill>
              </a:rPr>
              <a:t>· Backend Infrastructure</a:t>
            </a:r>
            <a:r>
              <a:rPr lang="en-ZM" sz="3200" b="1" dirty="0">
                <a:solidFill>
                  <a:schemeClr val="bg1"/>
                </a:solidFill>
              </a:rPr>
              <a:t>: · Django: A robust and secure Python framework to handle business logic and data. · PostgreSQL: A reliable and secure database for storing report data (anonymized). </a:t>
            </a:r>
            <a:endParaRPr lang="en-US" sz="3200" b="1" dirty="0">
              <a:solidFill>
                <a:schemeClr val="bg1"/>
              </a:solidFill>
            </a:endParaRPr>
          </a:p>
          <a:p>
            <a:r>
              <a:rPr lang="en-ZM" sz="3200" b="1" u="sng" dirty="0">
                <a:solidFill>
                  <a:schemeClr val="bg1"/>
                </a:solidFill>
              </a:rPr>
              <a:t>· Security &amp; Privacy Features: </a:t>
            </a:r>
            <a:r>
              <a:rPr lang="en-ZM" sz="3200" b="1" dirty="0">
                <a:solidFill>
                  <a:schemeClr val="bg1"/>
                </a:solidFill>
              </a:rPr>
              <a:t>· End-to-End Encryption: All data in transit is encrypted. · No IP Logging: We do not track or store user IP addresses or device information. · Data Minimization: We only collect the essential details of the incident</a:t>
            </a:r>
            <a:endParaRPr lang="en-ZM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684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26992-DAEE-7C32-E1A7-BD19D11B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D8D42C-44A7-BF7A-B049-EDB493C86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097" y="666355"/>
            <a:ext cx="10152993" cy="565022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Disclaimer:</a:t>
            </a:r>
            <a:br>
              <a:rPr lang="en-US" sz="3200" b="1" u="sng" dirty="0">
                <a:solidFill>
                  <a:schemeClr val="bg1"/>
                </a:solidFill>
              </a:rPr>
            </a:br>
            <a:br>
              <a:rPr lang="en-US" sz="3200" b="1" u="sng" dirty="0">
                <a:solidFill>
                  <a:schemeClr val="bg1"/>
                </a:solidFill>
              </a:rPr>
            </a:br>
            <a:br>
              <a:rPr lang="en-US" sz="3200" b="1" u="sng" dirty="0">
                <a:solidFill>
                  <a:schemeClr val="bg1"/>
                </a:solidFill>
              </a:rPr>
            </a:br>
            <a:br>
              <a:rPr lang="en-US" sz="3200" b="1" u="sng" dirty="0">
                <a:solidFill>
                  <a:schemeClr val="bg1"/>
                </a:solidFill>
              </a:rPr>
            </a:br>
            <a:r>
              <a:rPr lang="en-US" sz="3200" b="1" u="sng" dirty="0">
                <a:solidFill>
                  <a:schemeClr val="bg1"/>
                </a:solidFill>
              </a:rPr>
              <a:t>D</a:t>
            </a:r>
            <a:r>
              <a:rPr lang="en-US" sz="3200" b="1" dirty="0">
                <a:solidFill>
                  <a:schemeClr val="bg1"/>
                </a:solidFill>
              </a:rPr>
              <a:t>ue to time and loadshedding we was unable to link the backend to the frontend using the  API system for this project.</a:t>
            </a:r>
            <a:endParaRPr lang="en-ZM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355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EAD8A-A910-2931-0C3F-B5419BF24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32E04F-3820-248F-D83D-ED813D133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097" y="666355"/>
            <a:ext cx="10152993" cy="5650223"/>
          </a:xfrm>
          <a:noFill/>
        </p:spPr>
        <p:txBody>
          <a:bodyPr>
            <a:normAutofit/>
          </a:bodyPr>
          <a:lstStyle/>
          <a:p>
            <a:r>
              <a:rPr lang="en-ZM" sz="3600" b="1" u="sng" dirty="0">
                <a:solidFill>
                  <a:schemeClr val="bg1"/>
                </a:solidFill>
              </a:rPr>
              <a:t>SYSTEM ARCHITECTURE FLOW:</a:t>
            </a:r>
            <a:endParaRPr lang="en-US" sz="3600" b="1" u="sng" dirty="0">
              <a:solidFill>
                <a:schemeClr val="bg1"/>
              </a:solidFill>
            </a:endParaRPr>
          </a:p>
          <a:p>
            <a:endParaRPr lang="en-US" sz="3200" b="1" dirty="0">
              <a:solidFill>
                <a:schemeClr val="bg1"/>
              </a:solidFill>
            </a:endParaRPr>
          </a:p>
          <a:p>
            <a:pPr marL="514350" indent="-514350" algn="l">
              <a:buAutoNum type="arabicPeriod"/>
            </a:pPr>
            <a:r>
              <a:rPr lang="en-ZM" sz="2800" b="1" dirty="0">
                <a:solidFill>
                  <a:schemeClr val="bg1"/>
                </a:solidFill>
              </a:rPr>
              <a:t>User submits an anonymous report on the secure frontend. </a:t>
            </a:r>
            <a:endParaRPr lang="en-US" sz="2800" b="1" dirty="0">
              <a:solidFill>
                <a:schemeClr val="bg1"/>
              </a:solidFill>
            </a:endParaRPr>
          </a:p>
          <a:p>
            <a:pPr marL="514350" indent="-514350" algn="l">
              <a:buAutoNum type="arabicPeriod"/>
            </a:pPr>
            <a:r>
              <a:rPr lang="en-ZM" sz="2800" b="1" dirty="0">
                <a:solidFill>
                  <a:schemeClr val="bg1"/>
                </a:solidFill>
              </a:rPr>
              <a:t>2. Data is encrypted and sent to the Django backend API. </a:t>
            </a:r>
            <a:endParaRPr lang="en-US" sz="2800" b="1" dirty="0">
              <a:solidFill>
                <a:schemeClr val="bg1"/>
              </a:solidFill>
            </a:endParaRPr>
          </a:p>
          <a:p>
            <a:pPr marL="514350" indent="-514350" algn="l">
              <a:buAutoNum type="arabicPeriod"/>
            </a:pPr>
            <a:r>
              <a:rPr lang="en-ZM" sz="2800" b="1" dirty="0">
                <a:solidFill>
                  <a:schemeClr val="bg1"/>
                </a:solidFill>
              </a:rPr>
              <a:t>3. Backend processes the data, applies triage logic, and stores it in PostgreSQL. </a:t>
            </a:r>
            <a:endParaRPr lang="en-US" sz="2800" b="1" dirty="0">
              <a:solidFill>
                <a:schemeClr val="bg1"/>
              </a:solidFill>
            </a:endParaRPr>
          </a:p>
          <a:p>
            <a:pPr marL="514350" indent="-514350" algn="l">
              <a:buAutoNum type="arabicPeriod"/>
            </a:pPr>
            <a:r>
              <a:rPr lang="en-ZM" sz="2800" b="1" dirty="0">
                <a:solidFill>
                  <a:schemeClr val="bg1"/>
                </a:solidFill>
              </a:rPr>
              <a:t>4. Alert is sent to the authorized dashboard for social workers. </a:t>
            </a:r>
            <a:endParaRPr lang="en-US" sz="2800" b="1" dirty="0">
              <a:solidFill>
                <a:schemeClr val="bg1"/>
              </a:solidFill>
            </a:endParaRPr>
          </a:p>
          <a:p>
            <a:pPr marL="514350" indent="-514350" algn="l">
              <a:buAutoNum type="arabicPeriod"/>
            </a:pPr>
            <a:r>
              <a:rPr lang="en-ZM" sz="2800" b="1" dirty="0">
                <a:solidFill>
                  <a:schemeClr val="bg1"/>
                </a:solidFill>
              </a:rPr>
              <a:t>5. Social worker accesses the dashboard to review and act on the report.</a:t>
            </a:r>
            <a:endParaRPr lang="en-ZM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466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7077E-D4A5-632F-4DD8-D8AB8642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8875E3-164C-6D1E-1368-F6E5723C1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097" y="666355"/>
            <a:ext cx="10152993" cy="5650223"/>
          </a:xfrm>
          <a:noFill/>
        </p:spPr>
        <p:txBody>
          <a:bodyPr>
            <a:normAutofit/>
          </a:bodyPr>
          <a:lstStyle/>
          <a:p>
            <a:r>
              <a:rPr lang="en-ZM" sz="3600" b="1" u="sng" dirty="0">
                <a:solidFill>
                  <a:schemeClr val="bg1"/>
                </a:solidFill>
              </a:rPr>
              <a:t>KEY FEATURES &amp; DEMO · </a:t>
            </a:r>
            <a:endParaRPr lang="en-US" sz="3600" b="1" u="sng" dirty="0">
              <a:solidFill>
                <a:schemeClr val="bg1"/>
              </a:solidFill>
            </a:endParaRPr>
          </a:p>
          <a:p>
            <a:endParaRPr lang="en-US" sz="2800" b="1" dirty="0">
              <a:solidFill>
                <a:schemeClr val="bg1"/>
              </a:solidFill>
            </a:endParaRPr>
          </a:p>
          <a:p>
            <a:pPr algn="l"/>
            <a:r>
              <a:rPr lang="en-ZM" sz="3200" b="1" dirty="0">
                <a:solidFill>
                  <a:schemeClr val="bg1"/>
                </a:solidFill>
              </a:rPr>
              <a:t>Anonymous Reporting System: · Simple, guided form asking "What, Where, When." · No login, registration, or personal details required. · Immediate confirmation and reference number for the reporter. · Smart Triage System: · Automated risk assessment based on report content.</a:t>
            </a:r>
            <a:endParaRPr lang="en-ZM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605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877F71-A348-6357-4683-8EC45E9B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255E14-71CB-8A86-DCB8-EB10963BD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097" y="666355"/>
            <a:ext cx="10152993" cy="5650223"/>
          </a:xfrm>
          <a:noFill/>
        </p:spPr>
        <p:txBody>
          <a:bodyPr>
            <a:normAutofit/>
          </a:bodyPr>
          <a:lstStyle/>
          <a:p>
            <a:pPr algn="l"/>
            <a:r>
              <a:rPr lang="en-ZM" sz="3200" b="1" u="sng" dirty="0">
                <a:solidFill>
                  <a:schemeClr val="bg1"/>
                </a:solidFill>
              </a:rPr>
              <a:t>· Flags high-priority cases </a:t>
            </a:r>
            <a:r>
              <a:rPr lang="en-ZM" sz="3200" b="1" dirty="0">
                <a:solidFill>
                  <a:schemeClr val="bg1"/>
                </a:solidFill>
              </a:rPr>
              <a:t>(e.g., immediate danger) for instant escalation. · Routes reports to the correct regional response team. </a:t>
            </a:r>
            <a:endParaRPr lang="en-US" sz="3200" b="1" dirty="0">
              <a:solidFill>
                <a:schemeClr val="bg1"/>
              </a:solidFill>
            </a:endParaRPr>
          </a:p>
          <a:p>
            <a:pPr algn="l"/>
            <a:r>
              <a:rPr lang="en-ZM" sz="3200" b="1" u="sng" dirty="0">
                <a:solidFill>
                  <a:schemeClr val="bg1"/>
                </a:solidFill>
              </a:rPr>
              <a:t>· Administrative Dashboard: </a:t>
            </a:r>
            <a:r>
              <a:rPr lang="en-ZM" sz="3200" b="1" dirty="0">
                <a:solidFill>
                  <a:schemeClr val="bg1"/>
                </a:solidFill>
              </a:rPr>
              <a:t>· Secure login for authorized child protection officers. · View, filter, and manage incoming reports. · Track case status and assign actions to team members. </a:t>
            </a:r>
            <a:endParaRPr lang="en-US" sz="3200" b="1" dirty="0">
              <a:solidFill>
                <a:schemeClr val="bg1"/>
              </a:solidFill>
            </a:endParaRPr>
          </a:p>
          <a:p>
            <a:pPr algn="l"/>
            <a:r>
              <a:rPr lang="en-ZM" sz="3200" b="1" u="sng" dirty="0">
                <a:solidFill>
                  <a:schemeClr val="bg1"/>
                </a:solidFill>
              </a:rPr>
              <a:t>· Live Demo Highlights: </a:t>
            </a:r>
            <a:r>
              <a:rPr lang="en-ZM" sz="3200" b="1" dirty="0">
                <a:solidFill>
                  <a:schemeClr val="bg1"/>
                </a:solidFill>
              </a:rPr>
              <a:t>· Walk through the simple 3-step reporting process from a user's perspective. · Show how a report instantly appears on the admin dashboard. · Demonstrate the triage system flagging a high-priority case. </a:t>
            </a:r>
          </a:p>
          <a:p>
            <a:endParaRPr lang="en-ZM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229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9505AE-1556-8461-EBF2-28910661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EFAFFF-8740-472E-0AAA-0D4028B214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097" y="666355"/>
            <a:ext cx="10152993" cy="5650223"/>
          </a:xfrm>
          <a:noFill/>
        </p:spPr>
        <p:txBody>
          <a:bodyPr>
            <a:normAutofit/>
          </a:bodyPr>
          <a:lstStyle/>
          <a:p>
            <a:r>
              <a:rPr lang="en-ZM" sz="3600" b="1" dirty="0">
                <a:solidFill>
                  <a:schemeClr val="bg1"/>
                </a:solidFill>
              </a:rPr>
              <a:t>Impact &amp; Future Vision </a:t>
            </a:r>
            <a:endParaRPr lang="en-US" sz="3600" b="1" dirty="0">
              <a:solidFill>
                <a:schemeClr val="bg1"/>
              </a:solidFill>
            </a:endParaRPr>
          </a:p>
          <a:p>
            <a:endParaRPr lang="en-US" sz="3600" b="1" dirty="0">
              <a:solidFill>
                <a:schemeClr val="bg1"/>
              </a:solidFill>
            </a:endParaRPr>
          </a:p>
          <a:p>
            <a:pPr algn="l"/>
            <a:r>
              <a:rPr lang="en-ZM" sz="3600" b="1" u="sng" dirty="0">
                <a:solidFill>
                  <a:schemeClr val="bg1"/>
                </a:solidFill>
              </a:rPr>
              <a:t>· Measured Impact (First 6 Months): </a:t>
            </a:r>
            <a:r>
              <a:rPr lang="en-ZM" sz="3600" b="1" dirty="0">
                <a:solidFill>
                  <a:schemeClr val="bg1"/>
                </a:solidFill>
              </a:rPr>
              <a:t>· Goal: 500+ anonymous reports submitted through the platform. · Goal: 150+ cases successfully escalated to partner NGOs and police.  </a:t>
            </a:r>
            <a:endParaRPr lang="en-US" sz="3600" b="1" dirty="0">
              <a:solidFill>
                <a:schemeClr val="bg1"/>
              </a:solidFill>
            </a:endParaRPr>
          </a:p>
          <a:p>
            <a:pPr algn="l"/>
            <a:endParaRPr lang="en-ZM" sz="3600" b="1" dirty="0">
              <a:solidFill>
                <a:schemeClr val="bg1"/>
              </a:solidFill>
            </a:endParaRPr>
          </a:p>
          <a:p>
            <a:pPr algn="l"/>
            <a:r>
              <a:rPr lang="en-ZM" sz="3600" b="1" u="sng" dirty="0">
                <a:solidFill>
                  <a:schemeClr val="bg1"/>
                </a:solidFill>
              </a:rPr>
              <a:t>Goal:</a:t>
            </a:r>
            <a:r>
              <a:rPr lang="en-ZM" sz="3600" b="1" dirty="0">
                <a:solidFill>
                  <a:schemeClr val="bg1"/>
                </a:solidFill>
              </a:rPr>
              <a:t> Conduct pilot program in 3 high-risk districts. · Future Development Roadmap: · </a:t>
            </a:r>
          </a:p>
          <a:p>
            <a:endParaRPr lang="en-ZM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683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3EE9B9-C213-B768-8FC3-327B5C44B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B89061-9C82-2070-372D-FC74C63AE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097" y="666355"/>
            <a:ext cx="10152993" cy="5650223"/>
          </a:xfrm>
          <a:noFill/>
        </p:spPr>
        <p:txBody>
          <a:bodyPr>
            <a:normAutofit lnSpcReduction="10000"/>
          </a:bodyPr>
          <a:lstStyle/>
          <a:p>
            <a:pPr algn="l"/>
            <a:r>
              <a:rPr lang="en-ZM" sz="3200" b="1" u="sng" dirty="0">
                <a:solidFill>
                  <a:schemeClr val="bg1"/>
                </a:solidFill>
              </a:rPr>
              <a:t>Phase 2:</a:t>
            </a:r>
            <a:r>
              <a:rPr lang="en-ZM" sz="3200" b="1" dirty="0">
                <a:solidFill>
                  <a:schemeClr val="bg1"/>
                </a:solidFill>
              </a:rPr>
              <a:t> Integration with Zambia Police's Victim Support Unit and Ministry of Community Development. · </a:t>
            </a:r>
            <a:endParaRPr lang="en-US" sz="3200" b="1" dirty="0">
              <a:solidFill>
                <a:schemeClr val="bg1"/>
              </a:solidFill>
            </a:endParaRPr>
          </a:p>
          <a:p>
            <a:pPr algn="l"/>
            <a:endParaRPr lang="en-ZM" sz="3200" b="1" dirty="0">
              <a:solidFill>
                <a:schemeClr val="bg1"/>
              </a:solidFill>
            </a:endParaRPr>
          </a:p>
          <a:p>
            <a:pPr algn="l"/>
            <a:r>
              <a:rPr lang="en-ZM" sz="3200" b="1" u="sng" dirty="0">
                <a:solidFill>
                  <a:schemeClr val="bg1"/>
                </a:solidFill>
              </a:rPr>
              <a:t>Phase 3:</a:t>
            </a:r>
            <a:r>
              <a:rPr lang="en-ZM" sz="3200" b="1" dirty="0">
                <a:solidFill>
                  <a:schemeClr val="bg1"/>
                </a:solidFill>
              </a:rPr>
              <a:t> USSD/SMS-based reporting for areas with low internet connectivity. · </a:t>
            </a:r>
          </a:p>
          <a:p>
            <a:pPr algn="l"/>
            <a:r>
              <a:rPr lang="en-ZM" sz="3200" b="1" u="sng" dirty="0">
                <a:solidFill>
                  <a:schemeClr val="bg1"/>
                </a:solidFill>
              </a:rPr>
              <a:t>Phase 4:</a:t>
            </a:r>
            <a:r>
              <a:rPr lang="en-ZM" sz="3200" b="1" dirty="0">
                <a:solidFill>
                  <a:schemeClr val="bg1"/>
                </a:solidFill>
              </a:rPr>
              <a:t> Educational resources and a "Help a Friend" feature for peers. </a:t>
            </a:r>
            <a:endParaRPr lang="en-US" sz="3200" b="1" dirty="0">
              <a:solidFill>
                <a:schemeClr val="bg1"/>
              </a:solidFill>
            </a:endParaRPr>
          </a:p>
          <a:p>
            <a:pPr algn="l"/>
            <a:r>
              <a:rPr lang="en-ZM" sz="3200" b="1" u="sng" dirty="0">
                <a:solidFill>
                  <a:schemeClr val="bg1"/>
                </a:solidFill>
              </a:rPr>
              <a:t>· Sustainability Plan: </a:t>
            </a:r>
            <a:r>
              <a:rPr lang="en-ZM" sz="3200" b="1" dirty="0">
                <a:solidFill>
                  <a:schemeClr val="bg1"/>
                </a:solidFill>
              </a:rPr>
              <a:t>· Partnership model with established NGOs and government bodies. · Grant funding from international child protection and tech-for-good organizations. · Low operational costs maintained through cloud-efficient architecture.</a:t>
            </a:r>
            <a:endParaRPr lang="en-ZM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457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DE1B7-D89B-8C36-1CA9-DCA05461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DFB758-FC9E-0CEA-A8E5-3B5E4F8B5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097" y="666355"/>
            <a:ext cx="10152993" cy="5650223"/>
          </a:xfrm>
          <a:noFill/>
        </p:spPr>
        <p:txBody>
          <a:bodyPr>
            <a:normAutofit lnSpcReduction="10000"/>
          </a:bodyPr>
          <a:lstStyle/>
          <a:p>
            <a:r>
              <a:rPr lang="en-ZM" sz="3600" b="1" u="sng" dirty="0">
                <a:solidFill>
                  <a:schemeClr val="bg1"/>
                </a:solidFill>
              </a:rPr>
              <a:t>CALL TO ACTION: </a:t>
            </a:r>
            <a:endParaRPr lang="en-US" sz="3600" b="1" u="sng" dirty="0">
              <a:solidFill>
                <a:schemeClr val="bg1"/>
              </a:solidFill>
            </a:endParaRPr>
          </a:p>
          <a:p>
            <a:pPr algn="l"/>
            <a:endParaRPr lang="en-US" sz="3600" b="1" dirty="0">
              <a:solidFill>
                <a:schemeClr val="bg1"/>
              </a:solidFill>
            </a:endParaRPr>
          </a:p>
          <a:p>
            <a:pPr algn="l"/>
            <a:r>
              <a:rPr lang="en-ZM" sz="3600" b="1" dirty="0">
                <a:solidFill>
                  <a:schemeClr val="bg1"/>
                </a:solidFill>
              </a:rPr>
              <a:t>We need partners: Connect us with NGOs and government agencies in Zambia. · We need advisors: Experts in child protection, law, and mental health. · Help us scale: Let's work together to make Child</a:t>
            </a:r>
            <a:r>
              <a:rPr lang="en-US" sz="3600" b="1" dirty="0">
                <a:solidFill>
                  <a:schemeClr val="bg1"/>
                </a:solidFill>
              </a:rPr>
              <a:t>-</a:t>
            </a:r>
            <a:r>
              <a:rPr lang="en-ZM" sz="3600" b="1" dirty="0">
                <a:solidFill>
                  <a:schemeClr val="bg1"/>
                </a:solidFill>
              </a:rPr>
              <a:t>Safe Zambia a national standard.</a:t>
            </a:r>
            <a:endParaRPr lang="en-US" sz="3600" b="1">
              <a:solidFill>
                <a:schemeClr val="bg1"/>
              </a:solidFill>
            </a:endParaRPr>
          </a:p>
          <a:p>
            <a:pPr algn="l"/>
            <a:br>
              <a:rPr lang="en-US" sz="3600" b="1" dirty="0">
                <a:solidFill>
                  <a:schemeClr val="bg1"/>
                </a:solidFill>
              </a:rPr>
            </a:br>
            <a:br>
              <a:rPr lang="en-US" sz="3600" b="1" dirty="0">
                <a:solidFill>
                  <a:schemeClr val="bg1"/>
                </a:solidFill>
              </a:rPr>
            </a:br>
            <a:r>
              <a:rPr lang="en-US" b="1" u="sng" dirty="0">
                <a:solidFill>
                  <a:schemeClr val="bg1"/>
                </a:solidFill>
              </a:rPr>
              <a:t>USER NAME</a:t>
            </a:r>
            <a:r>
              <a:rPr lang="en-US" b="1" dirty="0">
                <a:solidFill>
                  <a:schemeClr val="bg1"/>
                </a:solidFill>
              </a:rPr>
              <a:t>: aaronchanda1199@gmail.com</a:t>
            </a:r>
            <a:br>
              <a:rPr lang="en-US" b="1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PASSCODE: 11992200</a:t>
            </a:r>
            <a:endParaRPr lang="en-ZM" b="1" dirty="0">
              <a:solidFill>
                <a:schemeClr val="bg1"/>
              </a:solidFill>
            </a:endParaRPr>
          </a:p>
          <a:p>
            <a:endParaRPr lang="en-ZM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428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1059</Words>
  <Application>Microsoft Office PowerPoint</Application>
  <PresentationFormat>Widescreen</PresentationFormat>
  <Paragraphs>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PROJECT TITLE:   CHILD-SAFE ZAMBIA</vt:lpstr>
      <vt:lpstr>PROJECT TITLE: CHILD-SAFE ZAMBIA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CHANDA</dc:creator>
  <cp:lastModifiedBy>ANTHONY CHANDA</cp:lastModifiedBy>
  <cp:revision>9</cp:revision>
  <dcterms:created xsi:type="dcterms:W3CDTF">2025-11-21T16:50:07Z</dcterms:created>
  <dcterms:modified xsi:type="dcterms:W3CDTF">2025-11-21T19:16:39Z</dcterms:modified>
</cp:coreProperties>
</file>